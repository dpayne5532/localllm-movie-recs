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06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679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731520" y="12801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Local LLM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Processing Platform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73152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EF84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Proof of Concept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31520" y="3566160"/>
            <a:ext cx="201168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3152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AD8C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Secure, On-Premises AI Processing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DAD8C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with Zero Cloud Exposure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February 2026</a:t>
            </a:r>
            <a:endParaRPr lang="en-US" sz="1100" dirty="0"/>
          </a:p>
        </p:txBody>
      </p:sp>
      <p:pic>
        <p:nvPicPr>
          <p:cNvPr id="12" name="Picture 11" descr="A green and black arrows&#10;&#10;AI-generated content may be incorrect.">
            <a:extLst>
              <a:ext uri="{FF2B5EF4-FFF2-40B4-BE49-F238E27FC236}">
                <a16:creationId xmlns:a16="http://schemas.microsoft.com/office/drawing/2014/main" id="{1C062F17-3ECE-4FE0-BAE6-EDC3ACDB3F6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6527807" y="517160"/>
            <a:ext cx="2374785" cy="4109179"/>
          </a:xfrm>
          <a:prstGeom prst="rect">
            <a:avLst/>
          </a:prstGeom>
        </p:spPr>
      </p:pic>
      <p:pic>
        <p:nvPicPr>
          <p:cNvPr id="14" name="Picture 13" descr="A green letter on a black background&#10;&#10;AI-generated content may be incorrect.">
            <a:extLst>
              <a:ext uri="{FF2B5EF4-FFF2-40B4-BE49-F238E27FC236}">
                <a16:creationId xmlns:a16="http://schemas.microsoft.com/office/drawing/2014/main" id="{AC677A04-AB00-6B94-250B-CCD8042E3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0819"/>
            <a:ext cx="3098800" cy="485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A fully local AI processing platform where sensitive data never leaves the organization's infrastructure.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794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64008" cy="1325880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470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556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Local LLM Processing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20848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Processes unstructured text using a local Large Language Model — no cloud calls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554480"/>
            <a:ext cx="3794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1554480"/>
            <a:ext cx="64008" cy="1325880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84708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7556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RAG Knowledge Base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0" y="20848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Enriches AI responses with organizational knowledge through Retrieval Augmented Generation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108960"/>
            <a:ext cx="3794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" y="3108960"/>
            <a:ext cx="64008" cy="1325880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0156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3101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SFTP-Only Gateway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17320" y="36393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Only a secure SFTP gateway faces the internet — no PHI touches the cloud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3108960"/>
            <a:ext cx="3794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09160" y="3108960"/>
            <a:ext cx="64008" cy="1325880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40156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3101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Commodity Hardware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36393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Runs entirely on an Apple Mac Mini — no specialized GPU clusters required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solidFill>
            <a:srgbClr val="0E2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22960" y="43251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EF84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For healthcare: AI-powered claims adjudication, prior auth &amp; clinical decision support — fully HIPAA-compliant.</a:t>
            </a:r>
            <a:endParaRPr lang="en-US" sz="1200" dirty="0"/>
          </a:p>
        </p:txBody>
      </p:sp>
      <p:pic>
        <p:nvPicPr>
          <p:cNvPr id="28" name="Picture 27" descr="A green and black arrows&#10;&#10;AI-generated content may be incorrect.">
            <a:extLst>
              <a:ext uri="{FF2B5EF4-FFF2-40B4-BE49-F238E27FC236}">
                <a16:creationId xmlns:a16="http://schemas.microsoft.com/office/drawing/2014/main" id="{C5D1CEEC-0831-7948-A131-B151D4E0CA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8997" y="4321725"/>
            <a:ext cx="425893" cy="7369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Why Local LLM?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Cloud-based AI services require sending data to third-party servers — a non-starter for healthcare.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1615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EF3EB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Challenge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EF3EB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Cloud AI Risk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EF3EB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Local LLM Solution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PHI Exposure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3A3A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Data transmitted to third parties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3A2D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Data never leaves your premises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BAA Complexity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3A3A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BAAs required with AI vendors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3A2D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No external vendors process PHI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Compliance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3A3A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Must audit vendor security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3A2D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Full control over security posture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Data Residency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3A3A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Unknown processing locations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3A2D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Data stays in your data center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Cost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3A3A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Unpredictable per-token pricing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3A2D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Fixed infrastructure cost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7" descr="A green and black arrows&#10;&#10;AI-generated content may be incorrect.">
            <a:extLst>
              <a:ext uri="{FF2B5EF4-FFF2-40B4-BE49-F238E27FC236}">
                <a16:creationId xmlns:a16="http://schemas.microsoft.com/office/drawing/2014/main" id="{35A4F154-2CFD-34CD-45ED-B06D349CF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997" y="4321725"/>
            <a:ext cx="425893" cy="7369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All AI processing happens entirely within your infrastructure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645920" cy="1508760"/>
          </a:xfrm>
          <a:prstGeom prst="rect">
            <a:avLst/>
          </a:prstGeom>
          <a:solidFill>
            <a:srgbClr val="123A2D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64592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14630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External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Systems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EHR · Clearinghouses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008" y="1783080"/>
            <a:ext cx="347472" cy="3474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88920" y="1280160"/>
            <a:ext cx="1645920" cy="1508760"/>
          </a:xfrm>
          <a:prstGeom prst="rect">
            <a:avLst/>
          </a:prstGeom>
          <a:solidFill>
            <a:srgbClr val="0E2F25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788920" y="1280160"/>
            <a:ext cx="164592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14630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8036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SFTP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Gateway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88036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Encrypted · Authenticated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1783080"/>
            <a:ext cx="347472" cy="34747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937760" y="1280160"/>
            <a:ext cx="1645920" cy="1508760"/>
          </a:xfrm>
          <a:prstGeom prst="rect">
            <a:avLst/>
          </a:prstGeom>
          <a:solidFill>
            <a:srgbClr val="0E2F25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4937760" y="1280160"/>
            <a:ext cx="164592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8696" y="1463040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2920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Processing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Engine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02920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Azure Functions · RAG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1783080"/>
            <a:ext cx="347472" cy="34747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086600" y="1280160"/>
            <a:ext cx="1645920" cy="1508760"/>
          </a:xfrm>
          <a:prstGeom prst="rect">
            <a:avLst/>
          </a:prstGeom>
          <a:solidFill>
            <a:srgbClr val="0E2F25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7086600" y="1280160"/>
            <a:ext cx="164592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7536" y="1463040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17804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Local LLM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(Ollama)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717804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Llama 3.1 · Private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5074920" y="3200400"/>
            <a:ext cx="1371600" cy="868680"/>
          </a:xfrm>
          <a:prstGeom prst="rect">
            <a:avLst/>
          </a:prstGeom>
          <a:solidFill>
            <a:srgbClr val="0AEF84"/>
          </a:solidFill>
          <a:ln/>
          <a:effectLst>
            <a:outerShdw blurRad="762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408" y="3291840"/>
            <a:ext cx="320040" cy="32004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120640" y="36393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A13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Knowledge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A13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Base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5760720" y="2788920"/>
            <a:ext cx="0" cy="411480"/>
          </a:xfrm>
          <a:prstGeom prst="line">
            <a:avLst/>
          </a:prstGeom>
          <a:noFill/>
          <a:ln w="25400">
            <a:solidFill>
              <a:srgbClr val="0AEF8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2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3"/>
          <p:cNvSpPr/>
          <p:nvPr/>
        </p:nvSpPr>
        <p:spPr>
          <a:xfrm>
            <a:off x="640080" y="42793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A13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The SFTP gateway is the ONLY internet-facing component. All AI processing is 100% local.</a:t>
            </a:r>
            <a:endParaRPr lang="en-US" sz="13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0813" y="4809744"/>
            <a:ext cx="163598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Retrieval Augmented Generation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Grounding AI responses in your actual organizational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00200" y="1417320"/>
            <a:ext cx="548640" cy="548640"/>
          </a:xfrm>
          <a:prstGeom prst="ellipse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00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A13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Your documents are parsed, indexed and stored locally. One-time setup.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92024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29000" y="123444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89120" y="1417320"/>
            <a:ext cx="548640" cy="548640"/>
          </a:xfrm>
          <a:prstGeom prst="ellipse">
            <a:avLst/>
          </a:prstGeom>
          <a:solidFill>
            <a:srgbClr val="2DAD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89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A13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61188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11880" y="2423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Each request triggers a search of the knowledge base for relevant context.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920240"/>
            <a:ext cx="274320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17920" y="123444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178040" y="1417320"/>
            <a:ext cx="548640" cy="548640"/>
          </a:xfrm>
          <a:prstGeom prst="ellipse">
            <a:avLst/>
          </a:prstGeom>
          <a:solidFill>
            <a:srgbClr val="0E2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1780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640080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400800" y="2423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LLM receives the request + retrieved context to produce an informed response.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0080" y="352044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229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RAG vs. Fine-Tuning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22960" y="3931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3A2D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Setup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22960" y="4133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RAG: Hours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22960" y="4334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5051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Fine-Tune: Days–Weeks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2697480" y="3931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3A2D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Updates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2697480" y="4133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RAG: Instant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2697480" y="4334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5051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Fine-Tune: Retraining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572000" y="3931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3A2D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Transparency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572000" y="4133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RAG: Full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572000" y="4334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5051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Fine-Tune: Black box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446520" y="3931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3A2D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Cost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446520" y="4133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RAG: Minimal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446520" y="4334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5051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Fine-Tune: Significant</a:t>
            </a:r>
            <a:endParaRPr lang="en-US" sz="1000" dirty="0"/>
          </a:p>
        </p:txBody>
      </p:sp>
      <p:pic>
        <p:nvPicPr>
          <p:cNvPr id="39" name="Picture 38" descr="A green and black arrows&#10;&#10;AI-generated content may be incorrect.">
            <a:extLst>
              <a:ext uri="{FF2B5EF4-FFF2-40B4-BE49-F238E27FC236}">
                <a16:creationId xmlns:a16="http://schemas.microsoft.com/office/drawing/2014/main" id="{D6A35177-B128-807A-8873-F79D78715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997" y="4321725"/>
            <a:ext cx="425893" cy="7369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Regulatory Compliance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24688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2468880" cy="457200"/>
          </a:xfrm>
          <a:prstGeom prst="rect">
            <a:avLst/>
          </a:prstGeom>
          <a:solidFill>
            <a:srgbClr val="0E2F2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0332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005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EF84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HIPAA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15544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Access Controls via SFTP auth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Full audit trail for all processing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Integrity via file checksums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Encrypted transmission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Minimum necessary via RAG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960120"/>
            <a:ext cx="24688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29000" y="960120"/>
            <a:ext cx="2468880" cy="457200"/>
          </a:xfrm>
          <a:prstGeom prst="rect">
            <a:avLst/>
          </a:prstGeom>
          <a:solidFill>
            <a:srgbClr val="0E2F2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10332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005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EF84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HITRUST CSF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15544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Info Protection: documented data flows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Access Control: segregated SFTP users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Transmission Protection: encrypted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Audit Logging: comprehensive logs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960120"/>
            <a:ext cx="24688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17920" y="960120"/>
            <a:ext cx="2468880" cy="457200"/>
          </a:xfrm>
          <a:prstGeom prst="rect">
            <a:avLst/>
          </a:prstGeom>
          <a:solidFill>
            <a:srgbClr val="0E2F2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0332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005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EF84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Colorado Privacy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15544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Data Minimization: selective retrieval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Purpose Limitation: single function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AI Transparency: explainable RAG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3A2D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No data shared with external AI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HB 21-1110: By processing locally, patient health data is never transmitted to out-of-state processors.</a:t>
            </a:r>
            <a:endParaRPr lang="en-US" sz="1100" dirty="0"/>
          </a:p>
        </p:txBody>
      </p:sp>
      <p:pic>
        <p:nvPicPr>
          <p:cNvPr id="22" name="Picture 21" descr="A green and black arrows&#10;&#10;AI-generated content may be incorrect.">
            <a:extLst>
              <a:ext uri="{FF2B5EF4-FFF2-40B4-BE49-F238E27FC236}">
                <a16:creationId xmlns:a16="http://schemas.microsoft.com/office/drawing/2014/main" id="{96DAAF81-4802-B7B7-B598-0A68B5184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997" y="4321725"/>
            <a:ext cx="425893" cy="7369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Proof of Concept: Movie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A safe, non-sensitive proxy that mirrors the exact architecture of healthcare claims processing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828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EF84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114,790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Total Movies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097280"/>
            <a:ext cx="1828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51760" y="1097280"/>
            <a:ext cx="182880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1170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EF84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38,357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Indexed for RAG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828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82880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170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EF84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750K+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Cast &amp; Crew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097280"/>
            <a:ext cx="1828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75120" y="1097280"/>
            <a:ext cx="182880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1170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EF84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130 yrs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Time Span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11811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EF3EB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Movie POC Component</a:t>
                      </a:r>
                      <a:endParaRPr lang="en-US" sz="105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EF3EB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Healthcare Equivalent</a:t>
                      </a:r>
                      <a:endParaRPr lang="en-US" sz="105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User movie preferences</a:t>
                      </a:r>
                      <a:endParaRPr lang="en-US" sz="105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Claim / prior auth request</a:t>
                      </a:r>
                      <a:endParaRPr lang="en-US" sz="105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Movie database (115K films)</a:t>
                      </a:r>
                      <a:endParaRPr lang="en-US" sz="105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Payer policies, medical guidelines</a:t>
                      </a:r>
                      <a:endParaRPr lang="en-US" sz="105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RAG search for relevant movies</a:t>
                      </a:r>
                      <a:endParaRPr lang="en-US" sz="105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Policy lookup, case retrieval</a:t>
                      </a:r>
                      <a:endParaRPr lang="en-US" sz="105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LLM recommendation generation</a:t>
                      </a:r>
                      <a:endParaRPr lang="en-US" sz="105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Adjudication / auth determination</a:t>
                      </a:r>
                      <a:endParaRPr lang="en-US" sz="105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" name="Picture 23" descr="A green and black arrows&#10;&#10;AI-generated content may be incorrect.">
            <a:extLst>
              <a:ext uri="{FF2B5EF4-FFF2-40B4-BE49-F238E27FC236}">
                <a16:creationId xmlns:a16="http://schemas.microsoft.com/office/drawing/2014/main" id="{FFB60184-5516-A682-66A4-3512BA7BB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997" y="4321725"/>
            <a:ext cx="425893" cy="7369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Healthcare Application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2560320" cy="3200400"/>
          </a:xfrm>
          <a:prstGeom prst="rect">
            <a:avLst/>
          </a:prstGeom>
          <a:solidFill>
            <a:srgbClr val="0E2F25"/>
          </a:solidFill>
          <a:ln/>
          <a:effectLst>
            <a:outerShdw blurRad="101600" dist="25400" dir="162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256032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430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EF84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80160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Prior Authorization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1645920"/>
            <a:ext cx="1645920" cy="21945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16459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A13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RECOMMENDED START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" y="20116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Payer medical policies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InterQual / MCG criteria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Historical auth decisions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7240" y="3566160"/>
            <a:ext cx="2286000" cy="411480"/>
          </a:xfrm>
          <a:prstGeom prst="rect">
            <a:avLst/>
          </a:prstGeom>
          <a:solidFill>
            <a:srgbClr val="123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Approve · Deny · Pend with citations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74720" y="960120"/>
            <a:ext cx="2560320" cy="3200400"/>
          </a:xfrm>
          <a:prstGeom prst="rect">
            <a:avLst/>
          </a:prstGeom>
          <a:solidFill>
            <a:srgbClr val="0E2F25"/>
          </a:solidFill>
          <a:ln/>
          <a:effectLst>
            <a:outerShdw blurRad="101600" dist="25400" dir="162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474720" y="960120"/>
            <a:ext cx="256032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14300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14800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EF84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114800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Claims Adjudication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657600" y="17373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Fee schedules &amp; coding guidelines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Bundling/unbundling rules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Medical necessity criteria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11880" y="3566160"/>
            <a:ext cx="2286000" cy="411480"/>
          </a:xfrm>
          <a:prstGeom prst="rect">
            <a:avLst/>
          </a:prstGeom>
          <a:solidFill>
            <a:srgbClr val="123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70332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Pay · Deny · Adjust with pricing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309360" y="960120"/>
            <a:ext cx="2560320" cy="3200400"/>
          </a:xfrm>
          <a:prstGeom prst="rect">
            <a:avLst/>
          </a:prstGeom>
          <a:solidFill>
            <a:srgbClr val="0E2F25"/>
          </a:solidFill>
          <a:ln/>
          <a:effectLst>
            <a:outerShdw blurRad="101600" dist="25400" dir="162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309360" y="960120"/>
            <a:ext cx="256032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143000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49440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EF84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949440" y="1399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Clinical Decision Support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92240" y="17373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Clinical pathways &amp; formularies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Care gap protocols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Quality measure specs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446520" y="3566160"/>
            <a:ext cx="2286000" cy="411480"/>
          </a:xfrm>
          <a:prstGeom prst="rect">
            <a:avLst/>
          </a:prstGeom>
          <a:solidFill>
            <a:srgbClr val="123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53796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Interventions · Alternatives · Reminders</a:t>
            </a:r>
            <a:endParaRPr lang="en-US" sz="950" dirty="0"/>
          </a:p>
        </p:txBody>
      </p:sp>
      <p:pic>
        <p:nvPicPr>
          <p:cNvPr id="32" name="Picture 31" descr="A green letter on a black background&#10;&#10;AI-generated content may be incorrect.">
            <a:extLst>
              <a:ext uri="{FF2B5EF4-FFF2-40B4-BE49-F238E27FC236}">
                <a16:creationId xmlns:a16="http://schemas.microsoft.com/office/drawing/2014/main" id="{0317C254-AA5B-D4B4-520D-2FAFB057C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4443984"/>
            <a:ext cx="2956561" cy="4631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Infrastructure &amp; Cost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7863840" cy="11379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B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Scale</a:t>
                      </a:r>
                      <a:endParaRPr lang="en-US" sz="12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B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Hardware</a:t>
                      </a:r>
                      <a:endParaRPr lang="en-US" sz="12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B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Est. Cost</a:t>
                      </a:r>
                      <a:endParaRPr lang="en-US" sz="12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Pilot (100 claims/day)</a:t>
                      </a:r>
                      <a:endParaRPr lang="en-US" sz="12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Mac Mini M4 Pro 64GB</a:t>
                      </a:r>
                      <a:endParaRPr lang="en-US" sz="12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$2,500</a:t>
                      </a:r>
                      <a:endParaRPr lang="en-US" sz="12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Department (1,000/day)</a:t>
                      </a:r>
                      <a:endParaRPr lang="en-US" sz="12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Mac Studio M2 Ultra 192GB</a:t>
                      </a:r>
                      <a:endParaRPr lang="en-US" sz="12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$8,000</a:t>
                      </a:r>
                      <a:endParaRPr lang="en-US" sz="12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Enterprise (10,000+/day)</a:t>
                      </a:r>
                      <a:endParaRPr lang="en-US" sz="12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Linux server + NVIDIA GPU</a:t>
                      </a:r>
                      <a:endParaRPr lang="en-US" sz="12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$15,000+</a:t>
                      </a:r>
                      <a:endParaRPr lang="en-US" sz="12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F25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Software Stack — All Open Source / Free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7863840" cy="14630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A13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Component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E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A13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Technology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E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A13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License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EF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LLM Runtime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Ollama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MIT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LLM Model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Llama 3.1 8B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Meta Community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Processing Engine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Node.js / Azure Functions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MIT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SFTP Server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Azure Blob Storage SFTP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Pay-per-use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Vector Search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Custom (→ ChromaDB)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2F25"/>
                          </a:solidFill>
                          <a:latin typeface="Gotham Book" pitchFamily="34" charset="0"/>
                          <a:ea typeface="Gotham Book" pitchFamily="34" charset="-122"/>
                          <a:cs typeface="Gotham Book" pitchFamily="34" charset="-120"/>
                        </a:rPr>
                        <a:t>Apache 2.0</a:t>
                      </a:r>
                      <a:endParaRPr lang="en-US" sz="1100" dirty="0">
                        <a:latin typeface="Gotham Book" charset="0"/>
                        <a:ea typeface="Gotham Book" charset="0"/>
                        <a:cs typeface="Gotham Boo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A green and black arrows&#10;&#10;AI-generated content may be incorrect.">
            <a:extLst>
              <a:ext uri="{FF2B5EF4-FFF2-40B4-BE49-F238E27FC236}">
                <a16:creationId xmlns:a16="http://schemas.microsoft.com/office/drawing/2014/main" id="{6DA36B8A-354A-82B4-3AA6-D7037A736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997" y="4321725"/>
            <a:ext cx="425893" cy="7369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Security &amp; Audit Trail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103120" cy="2286000"/>
          </a:xfrm>
          <a:prstGeom prst="rect">
            <a:avLst/>
          </a:prstGeom>
          <a:solidFill>
            <a:srgbClr val="123A2D">
              <a:alpha val="20000"/>
            </a:srgbClr>
          </a:solidFill>
          <a:ln w="19050">
            <a:solidFill>
              <a:srgbClr val="123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EF84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INTERNET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645920" cy="594360"/>
          </a:xfrm>
          <a:prstGeom prst="rect">
            <a:avLst/>
          </a:prstGeom>
          <a:solidFill>
            <a:srgbClr val="123A2D"/>
          </a:solidFill>
          <a:ln/>
          <a:effectLst>
            <a:outerShdw blurRad="50800" dist="127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External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Systems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914400"/>
            <a:ext cx="2377440" cy="2286000"/>
          </a:xfrm>
          <a:prstGeom prst="rect">
            <a:avLst/>
          </a:prstGeom>
          <a:solidFill>
            <a:srgbClr val="0E2F25">
              <a:alpha val="20000"/>
            </a:srgbClr>
          </a:solidFill>
          <a:ln w="19050">
            <a:solidFill>
              <a:srgbClr val="0E2F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EF84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DMZ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371600"/>
            <a:ext cx="1920240" cy="594360"/>
          </a:xfrm>
          <a:prstGeom prst="rect">
            <a:avLst/>
          </a:prstGeom>
          <a:solidFill>
            <a:srgbClr val="0E2F25"/>
          </a:solidFill>
          <a:ln/>
          <a:effectLst>
            <a:outerShdw blurRad="50800" dist="127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SFTP Gateway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148840"/>
            <a:ext cx="1920240" cy="594360"/>
          </a:xfrm>
          <a:prstGeom prst="rect">
            <a:avLst/>
          </a:prstGeom>
          <a:solidFill>
            <a:srgbClr val="0E2F25"/>
          </a:solidFill>
          <a:ln/>
          <a:effectLst>
            <a:outerShdw blurRad="50800" dist="127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Blob 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914400"/>
            <a:ext cx="3017520" cy="2286000"/>
          </a:xfrm>
          <a:prstGeom prst="rect">
            <a:avLst/>
          </a:prstGeom>
          <a:solidFill>
            <a:srgbClr val="0AEF84">
              <a:alpha val="20000"/>
            </a:srgbClr>
          </a:solidFill>
          <a:ln w="19050">
            <a:solidFill>
              <a:srgbClr val="0AEF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9601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EF84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INTERNAL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1371600"/>
            <a:ext cx="2560320" cy="594360"/>
          </a:xfrm>
          <a:prstGeom prst="rect">
            <a:avLst/>
          </a:prstGeom>
          <a:solidFill>
            <a:srgbClr val="0AEF84"/>
          </a:solidFill>
          <a:ln/>
          <a:effectLst>
            <a:outerShdw blurRad="50800" dist="127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LLM 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2148840"/>
            <a:ext cx="2560320" cy="594360"/>
          </a:xfrm>
          <a:prstGeom prst="rect">
            <a:avLst/>
          </a:prstGeom>
          <a:solidFill>
            <a:srgbClr val="0AEF84"/>
          </a:solidFill>
          <a:ln/>
          <a:effectLst>
            <a:outerShdw blurRad="50800" dist="127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Every Processed File Generates: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7490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Timestamp of receipt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Processing duration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RAG queries executed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LLM prompt &amp; response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B8FFE0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Output file location</a:t>
            </a:r>
            <a:endParaRPr lang="en-US" sz="1100" dirty="0"/>
          </a:p>
        </p:txBody>
      </p:sp>
      <p:pic>
        <p:nvPicPr>
          <p:cNvPr id="25" name="Picture 24" descr="A green letter on a black background&#10;&#10;AI-generated content may be incorrect.">
            <a:extLst>
              <a:ext uri="{FF2B5EF4-FFF2-40B4-BE49-F238E27FC236}">
                <a16:creationId xmlns:a16="http://schemas.microsoft.com/office/drawing/2014/main" id="{D0424730-1D1F-A592-6577-21E0B83D2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4443984"/>
            <a:ext cx="2956561" cy="4631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10972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Ready to Secure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otham Bold" pitchFamily="34" charset="0"/>
                <a:ea typeface="Gotham Bold" pitchFamily="34" charset="-122"/>
                <a:cs typeface="Gotham Bold" pitchFamily="34" charset="-120"/>
              </a:rPr>
              <a:t>Your AI Processing?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0AEF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EF84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Local LLM  ·  Full HIPAA Compliance  ·  Zero Cloud Exposure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3152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6753"/>
                </a:solidFill>
                <a:latin typeface="Gotham Book" pitchFamily="34" charset="0"/>
                <a:ea typeface="Gotham Book" pitchFamily="34" charset="-122"/>
                <a:cs typeface="Gotham Book" pitchFamily="34" charset="-120"/>
              </a:rPr>
              <a:t>Contact us to discuss your healthcare AI implementation</a:t>
            </a:r>
            <a:endParaRPr lang="en-US" sz="1200" dirty="0"/>
          </a:p>
        </p:txBody>
      </p:sp>
      <p:pic>
        <p:nvPicPr>
          <p:cNvPr id="11" name="Picture 10" descr="A green and black arrows&#10;&#10;AI-generated content may be incorrect.">
            <a:extLst>
              <a:ext uri="{FF2B5EF4-FFF2-40B4-BE49-F238E27FC236}">
                <a16:creationId xmlns:a16="http://schemas.microsoft.com/office/drawing/2014/main" id="{D5EE643C-CBDB-FC98-6BD5-55BB58AC1B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6527807" y="517160"/>
            <a:ext cx="2374785" cy="4109179"/>
          </a:xfrm>
          <a:prstGeom prst="rect">
            <a:avLst/>
          </a:prstGeom>
        </p:spPr>
      </p:pic>
      <p:pic>
        <p:nvPicPr>
          <p:cNvPr id="12" name="Picture 11" descr="A green letter on a black background&#10;&#10;AI-generated content may be incorrect.">
            <a:extLst>
              <a:ext uri="{FF2B5EF4-FFF2-40B4-BE49-F238E27FC236}">
                <a16:creationId xmlns:a16="http://schemas.microsoft.com/office/drawing/2014/main" id="{82F36073-596C-7274-3238-CA4F5F0E5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0819"/>
            <a:ext cx="3098800" cy="4854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737</Words>
  <Application>Microsoft Macintosh PowerPoint</Application>
  <PresentationFormat>On-screen Show (16:9)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Gotham Bold</vt:lpstr>
      <vt:lpstr>Gotham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LLM Processing Platform — Proof of Concept</dc:title>
  <dc:subject>PptxGenJS Presentation</dc:subject>
  <dc:creator>Catalyst Solutions</dc:creator>
  <cp:lastModifiedBy>Dan Payne</cp:lastModifiedBy>
  <cp:revision>9</cp:revision>
  <dcterms:created xsi:type="dcterms:W3CDTF">2026-02-03T14:35:43Z</dcterms:created>
  <dcterms:modified xsi:type="dcterms:W3CDTF">2026-02-03T14:51:38Z</dcterms:modified>
</cp:coreProperties>
</file>